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012A889-C53A-4485-8EBA-3D26172E2C4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441"/>
    <a:srgbClr val="FD77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A7F87-1717-48C7-8A99-D64775C7C950}" v="472" dt="2026-09-24T02:44:32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599"/>
  </p:normalViewPr>
  <p:slideViewPr>
    <p:cSldViewPr snapToGrid="0" snapToObjects="1">
      <p:cViewPr varScale="1">
        <p:scale>
          <a:sx n="90" d="100"/>
          <a:sy n="90" d="100"/>
        </p:scale>
        <p:origin x="2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139E7-D16B-4540-BCF8-C18F02415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CBD08-FB09-DA40-99B4-50B1836C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2ABB8-95FE-BB4C-92FD-14EF467B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8CDC8-131E-EA4F-A67B-1096F91C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08280-79F3-864A-B9C3-A1F0A0E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98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0C3C6-070D-B045-BF69-783F30CE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A0FBA5-625A-344B-9E8F-91AB01DAB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123016-F796-504C-91A7-79E4766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1D6825-81FA-D44B-8F1E-28CBF7AE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7A551-F682-694A-BFEE-646C5EA1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05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F2785-109D-AC46-9BE9-B7FB4B1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930678-FD52-FB44-A291-4692B6A7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4F10B-DBBE-924A-BC60-2A05393B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6A4A7-7EB1-3144-B7AD-FE53BB2D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25135-55C1-7C4B-94AA-7C4F04D6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48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6169D-6B81-6B47-B9F5-21BC6A78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BBDC58-B2FB-7847-B0E0-4DB0E441D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AA18BA-7B74-1141-8601-A408395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6F8292-2A02-D74D-A20D-94C9317F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CA28AF-AE12-9040-915F-7EC8798D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0748FC-42D8-C544-8A0F-40FC183C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84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E0668-53C2-DC42-BF93-19AC72D9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4DF04-5B2C-B942-B707-CD3E57D3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FF379-8B78-9943-976A-F48EF987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EA1737-CD7C-F145-8C22-70D6A5798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2A64D2-AEC7-CF43-89BE-AC209405B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D70EAA-861F-B345-B584-BA43280A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927046-D773-1649-B6ED-E7B73427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C7C39A-058A-1E4F-8916-051B204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28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05A2-501E-A242-939A-5ACF587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5A4D68-FECB-D640-B7AA-2259C4CC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8F22E7-4A75-8942-9444-BA12193C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96687C-9AAA-344E-A5DA-1E1F0177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07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594ECB-9856-B641-88CB-C38B389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A89FB4-3075-854B-83C8-68EF9683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C96DE6-5352-9D4C-A64C-E7ACE95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8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13D3C-937D-734C-B838-B07A1B33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7DD320-3D7A-8949-9FEF-30BC9EEB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996994-6B02-3846-8F49-9BACCD2CA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A4DFBD-D192-7049-A5EC-EDFB90E4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A5BA9E-615C-5648-91C0-9A53ED07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3CF783-CC3E-F741-ABCC-68509A79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75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3DD70-FE90-1D4E-870A-0D1D7A46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C5BF9A-D65B-EF46-A877-3D0891126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F2BC9B-ED84-7446-ACF9-B288AA3BD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73422F-6156-0F4D-8249-6E48B61F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3BA86C-9B0D-4E48-B01A-C46D326D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B4943D-4128-CA4B-9E16-C872A673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00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7C1F4-D9F6-034B-AA9A-D63EECED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E0E1A8-4837-C54B-9FA3-2D6EA651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CF5B6D-753E-434F-B585-5FBF66C1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83CDB2-7AD6-A848-919F-B54FAAC7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51AA6-8189-7848-ACB2-21C475EB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05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66D187-B5AB-A34B-8F3D-2A75DEB05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D1C37-680F-174D-8A72-1B5C1ECAC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A78EC4-AD63-0F45-A08D-C62005C8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803ED1-5A60-F24A-BC41-B7B6AB1B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2E234-DB63-764F-BBB0-F1E02CA2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77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9D96EF-E3B3-EC40-9442-E9D54BE7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0B0A15-7B96-AB41-8097-0EE864C97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BDC27-671E-894F-9AC0-13EC3C866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FEC50-D75F-5643-BA4D-7992EE5B3F1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9DCDA-7AF0-DD4C-B045-620F7779E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BE3EDC-946A-AC44-A828-BD9919CF6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712" y="428447"/>
            <a:ext cx="3141483" cy="1442047"/>
          </a:xfrm>
        </p:spPr>
        <p:txBody>
          <a:bodyPr>
            <a:norm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Book Antiqua"/>
              </a:rPr>
              <a:t>Aplicativo de Controle de Gastos Pessoais</a:t>
            </a:r>
          </a:p>
        </p:txBody>
      </p:sp>
      <p:pic>
        <p:nvPicPr>
          <p:cNvPr id="6" name="Espaço Reservado para Imagem 5">
            <a:extLst>
              <a:ext uri="{FF2B5EF4-FFF2-40B4-BE49-F238E27FC236}">
                <a16:creationId xmlns:a16="http://schemas.microsoft.com/office/drawing/2014/main" id="{76311706-3BF8-62F5-8213-F31F91E5F5A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0520" b="10520"/>
          <a:stretch/>
        </p:blipFill>
        <p:spPr>
          <a:xfrm>
            <a:off x="5643264" y="311690"/>
            <a:ext cx="6172200" cy="543434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>
          <a:xfrm>
            <a:off x="1903711" y="3897702"/>
            <a:ext cx="3500917" cy="28051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Lucas Tavares </a:t>
            </a:r>
          </a:p>
          <a:p>
            <a:r>
              <a:rPr lang="pt-BR" sz="3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Samuel Nascimento</a:t>
            </a:r>
          </a:p>
          <a:p>
            <a:r>
              <a:rPr lang="pt-BR" sz="3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Eduardo Reis</a:t>
            </a:r>
          </a:p>
          <a:p>
            <a:r>
              <a:rPr lang="pt-BR" sz="3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Gustavo Rodrigues</a:t>
            </a:r>
          </a:p>
          <a:p>
            <a:r>
              <a:rPr lang="pt-BR" sz="30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Luis</a:t>
            </a:r>
            <a:r>
              <a:rPr lang="pt-BR" sz="3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30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Fillipe</a:t>
            </a:r>
            <a:endParaRPr lang="pt-BR" sz="30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50" y="284671"/>
            <a:ext cx="4363558" cy="708805"/>
          </a:xfrm>
        </p:spPr>
        <p:txBody>
          <a:bodyPr>
            <a:normAutofit/>
          </a:bodyPr>
          <a:lstStyle/>
          <a:p>
            <a:r>
              <a:rPr sz="3000" b="1" dirty="0"/>
              <a:t>O </a:t>
            </a:r>
            <a:r>
              <a:rPr sz="3000" b="1" dirty="0" err="1"/>
              <a:t>problema</a:t>
            </a:r>
            <a:r>
              <a:rPr sz="3000" b="1" dirty="0"/>
              <a:t> </a:t>
            </a:r>
            <a:r>
              <a:rPr sz="3000" b="1" dirty="0" err="1"/>
              <a:t>identificado</a:t>
            </a:r>
            <a:endParaRPr lang="pt-BR" sz="3000" b="1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811" y="1706292"/>
            <a:ext cx="9996577" cy="415475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lvl="1"/>
            <a:r>
              <a:rPr sz="2500" dirty="0"/>
              <a:t>Organização — Dificuldade em separar receitas e despesas.</a:t>
            </a:r>
            <a:endParaRPr lang="pt-BR" sz="250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Acompanhamento — Falta de visibilidade sobre o saldo e movimentações.</a:t>
            </a:r>
            <a:endParaRPr sz="250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Análise — Desconhecimento de onde os recursos são utilizados.</a:t>
            </a:r>
            <a:endParaRPr sz="250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Visualização — Sobrecarga com grande volume de informações.</a:t>
            </a:r>
            <a:endParaRPr sz="2500">
              <a:ea typeface="Calibri"/>
              <a:cs typeface="Calibri"/>
            </a:endParaRPr>
          </a:p>
          <a:p>
            <a:pPr marL="0" indent="0">
              <a:buNone/>
            </a:pPr>
            <a:endParaRPr sz="2500">
              <a:latin typeface="Batang"/>
              <a:ea typeface="Batang"/>
              <a:cs typeface="Calibri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A105990-CD5A-FDE2-80F0-638EFF7C3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468551" y="6313095"/>
            <a:ext cx="9654424" cy="547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Fonte: Banco Central do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Brasil</a:t>
            </a:r>
            <a:r>
              <a:rPr lang="en-US" sz="2000" dirty="0">
                <a:latin typeface="Calibri"/>
                <a:ea typeface="Calibri"/>
                <a:cs typeface="Calibri"/>
              </a:rPr>
              <a:t> (BCB) +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levantamento</a:t>
            </a:r>
            <a:r>
              <a:rPr lang="en-US" sz="2000" dirty="0">
                <a:latin typeface="Calibri"/>
                <a:ea typeface="Calibri"/>
                <a:cs typeface="Calibri"/>
              </a:rPr>
              <a:t> de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necessidades</a:t>
            </a:r>
            <a:r>
              <a:rPr lang="en-US" sz="2000" dirty="0">
                <a:latin typeface="Calibri"/>
                <a:ea typeface="Calibri"/>
                <a:cs typeface="Calibri"/>
              </a:rPr>
              <a:t> com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usuários</a:t>
            </a:r>
            <a:r>
              <a:rPr lang="en-US" sz="2000" dirty="0">
                <a:latin typeface="Calibri"/>
                <a:ea typeface="Calibri"/>
                <a:cs typeface="Calibri"/>
              </a:rPr>
              <a:t>.</a:t>
            </a:r>
          </a:p>
          <a:p>
            <a:endParaRPr lang="pt-BR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Público-alvo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5561" y="1006116"/>
            <a:ext cx="10052616" cy="4840167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pt-BR"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Estudantes </a:t>
            </a:r>
            <a:r>
              <a:rPr sz="2500" dirty="0" err="1"/>
              <a:t>Universitários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Trabalhadores e </a:t>
            </a:r>
            <a:r>
              <a:rPr sz="2500" dirty="0" err="1"/>
              <a:t>Profissionais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Pessoas</a:t>
            </a:r>
            <a:r>
              <a:rPr sz="2500" dirty="0"/>
              <a:t> com </a:t>
            </a:r>
            <a:r>
              <a:rPr sz="2500" dirty="0" err="1"/>
              <a:t>renda</a:t>
            </a:r>
            <a:r>
              <a:rPr sz="2500" dirty="0"/>
              <a:t> </a:t>
            </a:r>
            <a:r>
              <a:rPr sz="2500" dirty="0" err="1"/>
              <a:t>fixa</a:t>
            </a:r>
            <a:r>
              <a:rPr sz="2500" dirty="0"/>
              <a:t> </a:t>
            </a:r>
            <a:r>
              <a:rPr sz="2500" dirty="0" err="1"/>
              <a:t>ou</a:t>
            </a:r>
            <a:r>
              <a:rPr sz="2500" dirty="0"/>
              <a:t> </a:t>
            </a:r>
            <a:r>
              <a:rPr sz="2500" dirty="0" err="1"/>
              <a:t>variável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Foco: </a:t>
            </a:r>
            <a:r>
              <a:rPr sz="2500" err="1"/>
              <a:t>Organizar</a:t>
            </a:r>
            <a:r>
              <a:rPr sz="2500" dirty="0"/>
              <a:t> • </a:t>
            </a:r>
            <a:r>
              <a:rPr sz="2500" err="1"/>
              <a:t>Acompanhar</a:t>
            </a:r>
            <a:r>
              <a:rPr sz="2500" dirty="0"/>
              <a:t> • </a:t>
            </a:r>
            <a:r>
              <a:rPr sz="2500" err="1"/>
              <a:t>Compreender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err="1"/>
              <a:t>Considerar</a:t>
            </a:r>
            <a:r>
              <a:rPr sz="2500" dirty="0"/>
              <a:t> </a:t>
            </a:r>
            <a:r>
              <a:rPr sz="2500" err="1"/>
              <a:t>usuários</a:t>
            </a:r>
            <a:r>
              <a:rPr sz="2500" dirty="0"/>
              <a:t> com </a:t>
            </a:r>
            <a:r>
              <a:rPr sz="2500" err="1"/>
              <a:t>pouca</a:t>
            </a:r>
            <a:r>
              <a:rPr sz="2500" dirty="0"/>
              <a:t> </a:t>
            </a:r>
            <a:r>
              <a:rPr sz="2500" err="1"/>
              <a:t>ou</a:t>
            </a:r>
            <a:r>
              <a:rPr sz="2500" dirty="0"/>
              <a:t> </a:t>
            </a:r>
            <a:r>
              <a:rPr sz="2500" err="1"/>
              <a:t>nenhuma</a:t>
            </a:r>
            <a:r>
              <a:rPr sz="2500" dirty="0"/>
              <a:t> </a:t>
            </a:r>
            <a:r>
              <a:rPr sz="2500" err="1"/>
              <a:t>experiência</a:t>
            </a:r>
            <a:r>
              <a:rPr sz="2500" dirty="0"/>
              <a:t> </a:t>
            </a:r>
            <a:r>
              <a:rPr sz="2500" err="1"/>
              <a:t>prévia</a:t>
            </a:r>
            <a:r>
              <a:rPr sz="2500" dirty="0"/>
              <a:t> </a:t>
            </a:r>
            <a:r>
              <a:rPr sz="2500" err="1"/>
              <a:t>em</a:t>
            </a:r>
            <a:r>
              <a:rPr sz="2500" dirty="0"/>
              <a:t> ferramentas </a:t>
            </a:r>
            <a:r>
              <a:rPr sz="2500" err="1"/>
              <a:t>financeiras</a:t>
            </a:r>
            <a:r>
              <a:rPr sz="2500" dirty="0"/>
              <a:t> </a:t>
            </a:r>
            <a:r>
              <a:rPr sz="2500" err="1"/>
              <a:t>complexas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Necessidades identificadas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989" y="1178645"/>
            <a:ext cx="9877811" cy="4998318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pt-BR" sz="2500" b="1" dirty="0">
              <a:ea typeface="Calibri"/>
              <a:cs typeface="Calibri"/>
            </a:endParaRPr>
          </a:p>
          <a:p>
            <a:pPr lvl="1"/>
            <a:r>
              <a:rPr lang="pt-BR" sz="2300" dirty="0">
                <a:ea typeface="Calibri"/>
                <a:cs typeface="Calibri"/>
              </a:rPr>
              <a:t>Registrar — Entrada de novas receitas e despesas de forma ágil.</a:t>
            </a:r>
          </a:p>
          <a:p>
            <a:pPr marL="0" indent="0">
              <a:buNone/>
            </a:pPr>
            <a:endParaRPr lang="pt-BR" sz="2300" b="1" dirty="0">
              <a:ea typeface="Calibri"/>
              <a:cs typeface="Calibri"/>
            </a:endParaRPr>
          </a:p>
          <a:p>
            <a:pPr lvl="1"/>
            <a:r>
              <a:rPr lang="pt-BR" sz="2300" dirty="0">
                <a:ea typeface="Calibri"/>
                <a:cs typeface="Calibri"/>
              </a:rPr>
              <a:t>Organizar — Classificação por categorias e estruturação do histórico.</a:t>
            </a:r>
          </a:p>
          <a:p>
            <a:pPr marL="0" indent="0">
              <a:buNone/>
            </a:pPr>
            <a:endParaRPr lang="pt-BR" sz="2300" b="1" dirty="0">
              <a:ea typeface="Calibri"/>
              <a:cs typeface="Calibri"/>
            </a:endParaRPr>
          </a:p>
          <a:p>
            <a:pPr lvl="1"/>
            <a:r>
              <a:rPr lang="pt-BR" sz="2300" dirty="0">
                <a:ea typeface="Calibri"/>
                <a:cs typeface="Calibri"/>
              </a:rPr>
              <a:t>Acompanhar — Monitoramento contínuo do saldo atual e evolução temporal.</a:t>
            </a:r>
          </a:p>
          <a:p>
            <a:pPr marL="0" indent="0">
              <a:buNone/>
            </a:pPr>
            <a:endParaRPr lang="pt-BR" sz="2300" b="1" dirty="0">
              <a:ea typeface="Calibri"/>
              <a:cs typeface="Calibri"/>
            </a:endParaRPr>
          </a:p>
          <a:p>
            <a:pPr lvl="1"/>
            <a:r>
              <a:rPr lang="pt-BR" sz="2300" dirty="0">
                <a:ea typeface="Calibri"/>
                <a:cs typeface="Calibri"/>
              </a:rPr>
              <a:t>Analisar — Comparativo visual de gastos, receitas e despesas acumuladas.</a:t>
            </a:r>
          </a:p>
          <a:p>
            <a:pPr marL="0" indent="0">
              <a:buNone/>
            </a:pPr>
            <a:endParaRPr lang="pt-BR" sz="2300" b="1" dirty="0">
              <a:ea typeface="Calibri"/>
              <a:cs typeface="Calibri"/>
            </a:endParaRPr>
          </a:p>
          <a:p>
            <a:pPr lvl="1"/>
            <a:r>
              <a:rPr lang="pt-BR" sz="2300" dirty="0">
                <a:ea typeface="Calibri"/>
                <a:cs typeface="Calibri"/>
              </a:rPr>
              <a:t>Utilizar — Interação por meio de uma interface simples, clara e intuitiva.</a:t>
            </a:r>
            <a:endParaRPr sz="23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Da necessidade ao requisito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300" y="1451815"/>
            <a:ext cx="9871500" cy="472514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0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Cadastro</a:t>
            </a:r>
            <a:r>
              <a:rPr sz="2500" dirty="0"/>
              <a:t> de </a:t>
            </a:r>
            <a:r>
              <a:rPr sz="2500" dirty="0" err="1"/>
              <a:t>movimentações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Categorias</a:t>
            </a:r>
            <a:r>
              <a:rPr sz="2500" dirty="0"/>
              <a:t> </a:t>
            </a:r>
            <a:r>
              <a:rPr sz="2500" dirty="0" err="1"/>
              <a:t>personalizadas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err="1"/>
              <a:t>Visão</a:t>
            </a:r>
            <a:r>
              <a:rPr sz="2500" dirty="0"/>
              <a:t> de Saldo + </a:t>
            </a:r>
            <a:r>
              <a:rPr sz="2500" err="1"/>
              <a:t>Resumo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As </a:t>
            </a:r>
            <a:r>
              <a:rPr sz="2500" err="1"/>
              <a:t>necessidades</a:t>
            </a:r>
            <a:r>
              <a:rPr sz="2500" dirty="0"/>
              <a:t> </a:t>
            </a:r>
            <a:r>
              <a:rPr sz="2500" err="1"/>
              <a:t>identificadas</a:t>
            </a:r>
            <a:r>
              <a:rPr sz="2500" dirty="0"/>
              <a:t> </a:t>
            </a:r>
            <a:r>
              <a:rPr sz="2500" err="1"/>
              <a:t>orientam</a:t>
            </a:r>
            <a:r>
              <a:rPr sz="2500" dirty="0"/>
              <a:t> a </a:t>
            </a:r>
            <a:r>
              <a:rPr sz="2500" err="1"/>
              <a:t>definição</a:t>
            </a:r>
            <a:r>
              <a:rPr sz="2500" dirty="0"/>
              <a:t> dos </a:t>
            </a:r>
            <a:r>
              <a:rPr sz="2500" err="1"/>
              <a:t>requisitos</a:t>
            </a:r>
            <a:r>
              <a:rPr sz="2500" dirty="0"/>
              <a:t> e das </a:t>
            </a:r>
            <a:r>
              <a:rPr sz="2500" err="1"/>
              <a:t>funcionalidades</a:t>
            </a:r>
            <a:r>
              <a:rPr sz="2500" dirty="0"/>
              <a:t> do </a:t>
            </a:r>
            <a:r>
              <a:rPr sz="2500" err="1"/>
              <a:t>sistema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Requisitos e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866650" y="7140245"/>
            <a:ext cx="9688433" cy="1218919"/>
          </a:xfrm>
        </p:spPr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83625"/>
              </p:ext>
            </p:extLst>
          </p:nvPr>
        </p:nvGraphicFramePr>
        <p:xfrm>
          <a:off x="1872243" y="1510335"/>
          <a:ext cx="9239507" cy="4428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9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061">
                <a:tc>
                  <a:txBody>
                    <a:bodyPr/>
                    <a:lstStyle/>
                    <a:p>
                      <a:r>
                        <a:rPr sz="2100" b="1" dirty="0"/>
                        <a:t>ID do </a:t>
                      </a:r>
                      <a:r>
                        <a:rPr sz="2100" b="1" dirty="0" err="1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 b="1" dirty="0" err="1"/>
                        <a:t>Funcionalidade</a:t>
                      </a:r>
                      <a:r>
                        <a:rPr sz="2100" b="1" dirty="0"/>
                        <a:t> </a:t>
                      </a:r>
                      <a:r>
                        <a:rPr sz="2100" b="1" dirty="0" err="1"/>
                        <a:t>Atribuída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72">
                <a:tc>
                  <a:txBody>
                    <a:bodyPr/>
                    <a:lstStyle/>
                    <a:p>
                      <a:r>
                        <a:rPr sz="2000" b="0" dirty="0"/>
                        <a:t>RF01 / RF02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/>
                        <a:t>Registro de </a:t>
                      </a:r>
                      <a:r>
                        <a:rPr sz="2000" b="0" dirty="0" err="1"/>
                        <a:t>Receitas</a:t>
                      </a:r>
                      <a:r>
                        <a:rPr sz="2000" b="0" dirty="0"/>
                        <a:t> e </a:t>
                      </a:r>
                      <a:r>
                        <a:rPr sz="2000" b="0" dirty="0" err="1"/>
                        <a:t>Despesas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99">
                <a:tc>
                  <a:txBody>
                    <a:bodyPr/>
                    <a:lstStyle/>
                    <a:p>
                      <a:r>
                        <a:rPr sz="2000" b="0" dirty="0"/>
                        <a:t>RF03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 err="1"/>
                        <a:t>Gerenciamento</a:t>
                      </a:r>
                      <a:r>
                        <a:rPr sz="2000" b="0" dirty="0"/>
                        <a:t> de </a:t>
                      </a:r>
                      <a:r>
                        <a:rPr sz="2000" b="0" dirty="0" err="1"/>
                        <a:t>Categorias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r>
                        <a:rPr sz="2000" b="0" dirty="0"/>
                        <a:t>RF04 / RF12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 err="1"/>
                        <a:t>Visualização</a:t>
                      </a:r>
                      <a:r>
                        <a:rPr sz="2000" b="0" dirty="0"/>
                        <a:t> de Histórico de </a:t>
                      </a:r>
                      <a:r>
                        <a:rPr sz="2000" b="0" dirty="0" err="1"/>
                        <a:t>Lançamentos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061">
                <a:tc>
                  <a:txBody>
                    <a:bodyPr/>
                    <a:lstStyle/>
                    <a:p>
                      <a:r>
                        <a:rPr sz="2000" b="0" dirty="0"/>
                        <a:t>RF05 / RF06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 err="1"/>
                        <a:t>Edição</a:t>
                      </a:r>
                      <a:r>
                        <a:rPr sz="2000" b="0" dirty="0"/>
                        <a:t> e </a:t>
                      </a:r>
                      <a:r>
                        <a:rPr sz="2000" b="0" dirty="0" err="1"/>
                        <a:t>Exclusão</a:t>
                      </a:r>
                      <a:r>
                        <a:rPr sz="2000" b="0" dirty="0"/>
                        <a:t> de </a:t>
                      </a:r>
                      <a:r>
                        <a:rPr sz="2000" b="0" dirty="0" err="1"/>
                        <a:t>Movimentações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454">
                <a:tc>
                  <a:txBody>
                    <a:bodyPr/>
                    <a:lstStyle/>
                    <a:p>
                      <a:r>
                        <a:rPr sz="2000" b="0" dirty="0"/>
                        <a:t>RF07 / RF08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 err="1"/>
                        <a:t>Cálculo</a:t>
                      </a:r>
                      <a:r>
                        <a:rPr sz="2000" b="0" dirty="0"/>
                        <a:t> de Saldo e </a:t>
                      </a:r>
                      <a:r>
                        <a:rPr sz="2000" b="0" dirty="0" err="1"/>
                        <a:t>Resumo</a:t>
                      </a:r>
                      <a:r>
                        <a:rPr sz="2000" b="0" dirty="0"/>
                        <a:t> </a:t>
                      </a:r>
                      <a:r>
                        <a:rPr sz="2000" b="0" dirty="0" err="1"/>
                        <a:t>Financeiro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136">
                <a:tc>
                  <a:txBody>
                    <a:bodyPr/>
                    <a:lstStyle/>
                    <a:p>
                      <a:r>
                        <a:rPr sz="2000" b="0" dirty="0"/>
                        <a:t>RF09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 err="1"/>
                        <a:t>Geração</a:t>
                      </a:r>
                      <a:r>
                        <a:rPr sz="2000" b="0" dirty="0"/>
                        <a:t> de </a:t>
                      </a:r>
                      <a:r>
                        <a:rPr sz="2000" b="0" dirty="0" err="1"/>
                        <a:t>Gráficos</a:t>
                      </a:r>
                      <a:r>
                        <a:rPr sz="2000" b="0" dirty="0"/>
                        <a:t> de </a:t>
                      </a:r>
                      <a:r>
                        <a:rPr sz="2000" b="0" dirty="0" err="1"/>
                        <a:t>Análise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061">
                <a:tc>
                  <a:txBody>
                    <a:bodyPr/>
                    <a:lstStyle/>
                    <a:p>
                      <a:r>
                        <a:rPr sz="2000" b="0" dirty="0"/>
                        <a:t>RF10 / RF11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 dirty="0" err="1"/>
                        <a:t>Filtros</a:t>
                      </a:r>
                      <a:r>
                        <a:rPr sz="2000" b="0" dirty="0"/>
                        <a:t> de </a:t>
                      </a:r>
                      <a:r>
                        <a:rPr sz="2000" b="0" dirty="0" err="1"/>
                        <a:t>Busca</a:t>
                      </a:r>
                      <a:r>
                        <a:rPr sz="2000" b="0" dirty="0"/>
                        <a:t> e </a:t>
                      </a:r>
                      <a:r>
                        <a:rPr sz="2000" b="0" dirty="0" err="1"/>
                        <a:t>Período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Funcionalidades propostas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024" y="1365550"/>
            <a:ext cx="9900775" cy="481141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1800" b="1" dirty="0">
              <a:ea typeface="Calibri"/>
              <a:cs typeface="Calibri"/>
            </a:endParaRPr>
          </a:p>
          <a:p>
            <a:pPr lvl="1"/>
            <a:r>
              <a:rPr sz="2500" dirty="0"/>
              <a:t>Registrar — </a:t>
            </a:r>
            <a:r>
              <a:rPr sz="2500" dirty="0" err="1"/>
              <a:t>Inserção</a:t>
            </a:r>
            <a:r>
              <a:rPr sz="2500" dirty="0"/>
              <a:t> </a:t>
            </a:r>
            <a:r>
              <a:rPr sz="2500" dirty="0" err="1"/>
              <a:t>rápida</a:t>
            </a:r>
            <a:r>
              <a:rPr sz="2500" dirty="0"/>
              <a:t> de </a:t>
            </a:r>
            <a:r>
              <a:rPr sz="2500" dirty="0" err="1"/>
              <a:t>Receitas</a:t>
            </a:r>
            <a:r>
              <a:rPr sz="2500" dirty="0"/>
              <a:t> e </a:t>
            </a:r>
            <a:r>
              <a:rPr sz="2500" dirty="0" err="1"/>
              <a:t>Despesas</a:t>
            </a:r>
            <a:r>
              <a:rPr sz="2500" dirty="0"/>
              <a:t> no </a:t>
            </a:r>
            <a:r>
              <a:rPr sz="2500" dirty="0" err="1"/>
              <a:t>sistema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Organizar</a:t>
            </a:r>
            <a:r>
              <a:rPr sz="2500" dirty="0"/>
              <a:t> — </a:t>
            </a:r>
            <a:r>
              <a:rPr sz="2500" dirty="0" err="1"/>
              <a:t>Agrupamento</a:t>
            </a:r>
            <a:r>
              <a:rPr sz="2500" dirty="0"/>
              <a:t> </a:t>
            </a:r>
            <a:r>
              <a:rPr sz="2500" dirty="0" err="1"/>
              <a:t>por</a:t>
            </a:r>
            <a:r>
              <a:rPr sz="2500" dirty="0"/>
              <a:t> </a:t>
            </a:r>
            <a:r>
              <a:rPr sz="2500" dirty="0" err="1"/>
              <a:t>Categorias</a:t>
            </a:r>
            <a:r>
              <a:rPr sz="2500" dirty="0"/>
              <a:t> e </a:t>
            </a:r>
            <a:r>
              <a:rPr sz="2500" dirty="0" err="1"/>
              <a:t>registro</a:t>
            </a:r>
            <a:r>
              <a:rPr sz="2500" dirty="0"/>
              <a:t> de Histórico.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err="1"/>
              <a:t>Acompanhar</a:t>
            </a:r>
            <a:r>
              <a:rPr sz="2500" dirty="0"/>
              <a:t> — </a:t>
            </a:r>
            <a:r>
              <a:rPr sz="2500" err="1"/>
              <a:t>Visão</a:t>
            </a:r>
            <a:r>
              <a:rPr sz="2500" dirty="0"/>
              <a:t> </a:t>
            </a:r>
            <a:r>
              <a:rPr sz="2500" err="1"/>
              <a:t>clara</a:t>
            </a:r>
            <a:r>
              <a:rPr sz="2500" dirty="0"/>
              <a:t> do Saldo </a:t>
            </a:r>
            <a:r>
              <a:rPr sz="2500" err="1"/>
              <a:t>atual</a:t>
            </a:r>
            <a:r>
              <a:rPr sz="2500" dirty="0"/>
              <a:t> e </a:t>
            </a:r>
            <a:r>
              <a:rPr sz="2500" err="1"/>
              <a:t>Resumo</a:t>
            </a:r>
            <a:r>
              <a:rPr sz="2500" dirty="0"/>
              <a:t> </a:t>
            </a:r>
            <a:r>
              <a:rPr sz="2500" err="1"/>
              <a:t>consolidado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err="1"/>
              <a:t>Analisar</a:t>
            </a:r>
            <a:r>
              <a:rPr sz="2500" dirty="0"/>
              <a:t> — </a:t>
            </a:r>
            <a:r>
              <a:rPr sz="2500" err="1"/>
              <a:t>Projeção</a:t>
            </a:r>
            <a:r>
              <a:rPr sz="2500" dirty="0"/>
              <a:t> de </a:t>
            </a:r>
            <a:r>
              <a:rPr sz="2500" err="1"/>
              <a:t>Gráficos</a:t>
            </a:r>
            <a:r>
              <a:rPr sz="2500" dirty="0"/>
              <a:t> e </a:t>
            </a:r>
            <a:r>
              <a:rPr sz="2500" err="1"/>
              <a:t>aplicação</a:t>
            </a:r>
            <a:r>
              <a:rPr sz="2500" dirty="0"/>
              <a:t> de </a:t>
            </a:r>
            <a:r>
              <a:rPr sz="2500" err="1"/>
              <a:t>Filtros</a:t>
            </a:r>
            <a:r>
              <a:rPr sz="2500" dirty="0"/>
              <a:t> de </a:t>
            </a:r>
            <a:r>
              <a:rPr sz="2500" err="1"/>
              <a:t>período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err="1"/>
              <a:t>Gerenciar</a:t>
            </a:r>
            <a:r>
              <a:rPr sz="2500" dirty="0"/>
              <a:t> — </a:t>
            </a:r>
            <a:r>
              <a:rPr sz="2500" err="1"/>
              <a:t>Funções</a:t>
            </a:r>
            <a:r>
              <a:rPr sz="2500" dirty="0"/>
              <a:t> para </a:t>
            </a:r>
            <a:r>
              <a:rPr sz="2500" err="1"/>
              <a:t>Editar</a:t>
            </a:r>
            <a:r>
              <a:rPr sz="2500" dirty="0"/>
              <a:t> e </a:t>
            </a:r>
            <a:r>
              <a:rPr sz="2500" err="1"/>
              <a:t>Excluir</a:t>
            </a:r>
            <a:r>
              <a:rPr sz="2500" dirty="0"/>
              <a:t> </a:t>
            </a:r>
            <a:r>
              <a:rPr sz="2500" err="1"/>
              <a:t>lançamentos</a:t>
            </a:r>
            <a:r>
              <a:rPr sz="2500" dirty="0"/>
              <a:t> </a:t>
            </a:r>
            <a:r>
              <a:rPr sz="2500" err="1"/>
              <a:t>incorretos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sz="3000" b="1"/>
              <a:t>Como o usuário interage?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2988" y="876721"/>
            <a:ext cx="9865189" cy="5300242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pt-BR" sz="1800" b="1" dirty="0">
              <a:ea typeface="Calibri"/>
              <a:cs typeface="Calibri"/>
            </a:endParaRPr>
          </a:p>
          <a:p>
            <a:pPr lvl="1"/>
            <a:r>
              <a:rPr sz="2300" dirty="0" err="1"/>
              <a:t>Referências</a:t>
            </a:r>
            <a:r>
              <a:rPr sz="2300" dirty="0"/>
              <a:t>: ISO 9241-11</a:t>
            </a:r>
            <a:r>
              <a:rPr lang="pt-BR" sz="2300" dirty="0"/>
              <a:t> -</a:t>
            </a:r>
            <a:r>
              <a:rPr sz="2300" dirty="0"/>
              <a:t> Nielsen</a:t>
            </a:r>
            <a:r>
              <a:rPr lang="pt-BR" sz="2300" dirty="0"/>
              <a:t> -</a:t>
            </a:r>
            <a:r>
              <a:rPr sz="2300" dirty="0"/>
              <a:t> Krug</a:t>
            </a:r>
            <a:r>
              <a:rPr lang="pt-BR" sz="2300" dirty="0"/>
              <a:t> -</a:t>
            </a:r>
            <a:r>
              <a:rPr sz="2300" dirty="0"/>
              <a:t> Ware.</a:t>
            </a:r>
            <a:endParaRPr sz="2300" dirty="0">
              <a:ea typeface="Calibri"/>
              <a:cs typeface="Calibri"/>
            </a:endParaRPr>
          </a:p>
          <a:p>
            <a:pPr marL="0" indent="0">
              <a:buNone/>
            </a:pPr>
            <a:endParaRPr sz="2300" b="1" dirty="0">
              <a:ea typeface="Calibri"/>
              <a:cs typeface="Calibri"/>
            </a:endParaRPr>
          </a:p>
          <a:p>
            <a:pPr lvl="1"/>
            <a:r>
              <a:rPr sz="2300" dirty="0" err="1"/>
              <a:t>Efetividade</a:t>
            </a:r>
            <a:r>
              <a:rPr lang="pt-BR" sz="2300" dirty="0"/>
              <a:t> -</a:t>
            </a:r>
            <a:r>
              <a:rPr sz="2300" dirty="0"/>
              <a:t> </a:t>
            </a:r>
            <a:r>
              <a:rPr sz="2300" dirty="0" err="1"/>
              <a:t>Eficiência</a:t>
            </a:r>
            <a:r>
              <a:rPr lang="pt-BR" sz="2300" dirty="0"/>
              <a:t> -</a:t>
            </a:r>
            <a:r>
              <a:rPr sz="2300" dirty="0"/>
              <a:t> </a:t>
            </a:r>
            <a:r>
              <a:rPr sz="2300" dirty="0" err="1"/>
              <a:t>Satisfação</a:t>
            </a:r>
            <a:r>
              <a:rPr sz="2300" dirty="0"/>
              <a:t>.</a:t>
            </a:r>
            <a:endParaRPr sz="2300" dirty="0">
              <a:ea typeface="Calibri"/>
              <a:cs typeface="Calibri"/>
            </a:endParaRPr>
          </a:p>
          <a:p>
            <a:pPr marL="0" indent="0">
              <a:buNone/>
            </a:pPr>
            <a:endParaRPr sz="2300" b="1" dirty="0">
              <a:ea typeface="Calibri"/>
              <a:cs typeface="Calibri"/>
            </a:endParaRPr>
          </a:p>
          <a:p>
            <a:pPr lvl="1"/>
            <a:r>
              <a:rPr sz="2300" dirty="0"/>
              <a:t>1. Registrar</a:t>
            </a:r>
            <a:endParaRPr sz="2300" dirty="0">
              <a:ea typeface="Calibri"/>
              <a:cs typeface="Calibri"/>
            </a:endParaRPr>
          </a:p>
          <a:p>
            <a:pPr marL="0" indent="0">
              <a:buNone/>
            </a:pPr>
            <a:endParaRPr sz="2300" b="1" dirty="0">
              <a:ea typeface="Calibri"/>
              <a:cs typeface="Calibri"/>
            </a:endParaRPr>
          </a:p>
          <a:p>
            <a:pPr lvl="1"/>
            <a:r>
              <a:rPr sz="2300" dirty="0"/>
              <a:t>2. Feedback</a:t>
            </a:r>
            <a:endParaRPr sz="2300" dirty="0">
              <a:ea typeface="Calibri"/>
              <a:cs typeface="Calibri"/>
            </a:endParaRPr>
          </a:p>
          <a:p>
            <a:pPr marL="0" indent="0">
              <a:buNone/>
            </a:pPr>
            <a:endParaRPr sz="2300" b="1" dirty="0">
              <a:ea typeface="Calibri"/>
              <a:cs typeface="Calibri"/>
            </a:endParaRPr>
          </a:p>
          <a:p>
            <a:pPr lvl="1"/>
            <a:r>
              <a:rPr sz="2300" dirty="0"/>
              <a:t>3. </a:t>
            </a:r>
            <a:r>
              <a:rPr sz="2300" dirty="0" err="1"/>
              <a:t>Consultar</a:t>
            </a:r>
            <a:endParaRPr sz="2300" dirty="0" err="1">
              <a:ea typeface="Calibri"/>
              <a:cs typeface="Calibri"/>
            </a:endParaRPr>
          </a:p>
          <a:p>
            <a:pPr marL="0" indent="0">
              <a:buNone/>
            </a:pPr>
            <a:endParaRPr sz="2300" b="1" dirty="0">
              <a:ea typeface="Calibri"/>
              <a:cs typeface="Calibri"/>
            </a:endParaRPr>
          </a:p>
          <a:p>
            <a:pPr lvl="1"/>
            <a:r>
              <a:rPr sz="2300" dirty="0"/>
              <a:t>4. </a:t>
            </a:r>
            <a:r>
              <a:rPr sz="2300" dirty="0" err="1"/>
              <a:t>Filtrar</a:t>
            </a:r>
            <a:r>
              <a:rPr sz="2300" dirty="0"/>
              <a:t> / </a:t>
            </a:r>
            <a:r>
              <a:rPr sz="2300" dirty="0" err="1"/>
              <a:t>Organizar</a:t>
            </a:r>
            <a:endParaRPr sz="2300" dirty="0" err="1">
              <a:ea typeface="Calibri"/>
              <a:cs typeface="Calibri"/>
            </a:endParaRPr>
          </a:p>
          <a:p>
            <a:pPr lvl="1"/>
            <a:endParaRPr lang="pt-BR" sz="2300" dirty="0">
              <a:ea typeface="Calibri"/>
              <a:cs typeface="Calibri"/>
            </a:endParaRPr>
          </a:p>
          <a:p>
            <a:pPr lvl="1"/>
            <a:r>
              <a:rPr sz="2300" dirty="0"/>
              <a:t>5. </a:t>
            </a:r>
            <a:r>
              <a:rPr sz="2300" dirty="0" err="1"/>
              <a:t>Analisar</a:t>
            </a:r>
            <a:endParaRPr sz="23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Da documentação para a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2988" y="1394305"/>
            <a:ext cx="9865189" cy="478265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5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Cadastro</a:t>
            </a:r>
            <a:r>
              <a:rPr sz="2500" dirty="0"/>
              <a:t> — RF01 / RF02.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Categorias</a:t>
            </a:r>
            <a:r>
              <a:rPr sz="2500" dirty="0"/>
              <a:t> — RF03.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/>
              <a:t>Saldo e </a:t>
            </a:r>
            <a:r>
              <a:rPr sz="2500" dirty="0" err="1"/>
              <a:t>Resumo</a:t>
            </a:r>
            <a:r>
              <a:rPr sz="2500" dirty="0"/>
              <a:t> — RF07 / RF08.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dirty="0" err="1"/>
              <a:t>Gráficos</a:t>
            </a:r>
            <a:r>
              <a:rPr sz="2500" dirty="0"/>
              <a:t> — RF09.</a:t>
            </a:r>
            <a:endParaRPr sz="2500" dirty="0">
              <a:ea typeface="Calibri"/>
              <a:cs typeface="Calibri"/>
            </a:endParaRPr>
          </a:p>
          <a:p>
            <a:pPr marL="0" indent="0">
              <a:buNone/>
            </a:pPr>
            <a:endParaRPr sz="2500" b="1" dirty="0">
              <a:ea typeface="Calibri"/>
              <a:cs typeface="Calibri"/>
            </a:endParaRPr>
          </a:p>
          <a:p>
            <a:pPr lvl="1"/>
            <a:r>
              <a:rPr sz="2500" err="1"/>
              <a:t>Necessidades</a:t>
            </a:r>
            <a:r>
              <a:rPr sz="2500" dirty="0"/>
              <a:t> → </a:t>
            </a:r>
            <a:r>
              <a:rPr sz="2500" err="1"/>
              <a:t>Requisitos</a:t>
            </a:r>
            <a:r>
              <a:rPr sz="2500" dirty="0"/>
              <a:t> → </a:t>
            </a:r>
            <a:r>
              <a:rPr sz="2500" err="1"/>
              <a:t>Funcionalidades</a:t>
            </a:r>
            <a:r>
              <a:rPr sz="2500" dirty="0"/>
              <a:t> → </a:t>
            </a:r>
            <a:r>
              <a:rPr sz="2500" err="1"/>
              <a:t>Protótipo</a:t>
            </a:r>
            <a:r>
              <a:rPr sz="2500" dirty="0"/>
              <a:t>.</a:t>
            </a:r>
            <a:endParaRPr sz="25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24465"/>
          </a:xfrm>
        </p:spPr>
        <p:txBody>
          <a:bodyPr/>
          <a:lstStyle/>
          <a:p>
            <a:r>
              <a:rPr sz="3000" b="1"/>
              <a:t>Status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24" y="182293"/>
            <a:ext cx="7020464" cy="6066945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pt-BR" sz="1700" b="1" dirty="0">
              <a:ea typeface="Calibri"/>
              <a:cs typeface="Calibri"/>
            </a:endParaRPr>
          </a:p>
          <a:p>
            <a:pPr lvl="1"/>
            <a:r>
              <a:rPr sz="2500" b="1" dirty="0"/>
              <a:t>DOCUMENTADO:</a:t>
            </a:r>
            <a:endParaRPr sz="2500" b="1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/>
              <a:t>Da </a:t>
            </a:r>
            <a:r>
              <a:rPr sz="2000" dirty="0" err="1"/>
              <a:t>pesquisa</a:t>
            </a:r>
            <a:r>
              <a:rPr sz="2000" dirty="0"/>
              <a:t> à </a:t>
            </a:r>
            <a:r>
              <a:rPr sz="2000" dirty="0" err="1"/>
              <a:t>proposta</a:t>
            </a:r>
            <a:r>
              <a:rPr sz="2000" dirty="0"/>
              <a:t>: </a:t>
            </a:r>
            <a:r>
              <a:rPr sz="2000" dirty="0" err="1"/>
              <a:t>uma</a:t>
            </a:r>
            <a:r>
              <a:rPr sz="2000" dirty="0"/>
              <a:t> </a:t>
            </a:r>
            <a:r>
              <a:rPr sz="2000" dirty="0" err="1"/>
              <a:t>solução</a:t>
            </a:r>
            <a:r>
              <a:rPr sz="2000" dirty="0"/>
              <a:t> </a:t>
            </a:r>
            <a:r>
              <a:rPr sz="2000" dirty="0" err="1"/>
              <a:t>construída</a:t>
            </a:r>
            <a:r>
              <a:rPr sz="2000" dirty="0"/>
              <a:t> a </a:t>
            </a:r>
            <a:r>
              <a:rPr sz="2000" dirty="0" err="1"/>
              <a:t>partir</a:t>
            </a:r>
            <a:r>
              <a:rPr sz="2000" dirty="0"/>
              <a:t> de </a:t>
            </a:r>
            <a:r>
              <a:rPr sz="2000" dirty="0" err="1"/>
              <a:t>requisitos</a:t>
            </a:r>
            <a:r>
              <a:rPr sz="2000" dirty="0"/>
              <a:t> </a:t>
            </a:r>
            <a:r>
              <a:rPr sz="2000" dirty="0" err="1"/>
              <a:t>documentados</a:t>
            </a:r>
            <a:r>
              <a:rPr sz="2000" dirty="0"/>
              <a:t>.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 err="1"/>
              <a:t>Levantamento</a:t>
            </a:r>
            <a:r>
              <a:rPr sz="2000" dirty="0"/>
              <a:t> </a:t>
            </a:r>
            <a:r>
              <a:rPr sz="2000" dirty="0" err="1"/>
              <a:t>bibliográfico</a:t>
            </a:r>
            <a:r>
              <a:rPr sz="2000" dirty="0"/>
              <a:t>.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 err="1"/>
              <a:t>Necessidades</a:t>
            </a:r>
            <a:r>
              <a:rPr sz="2000" dirty="0"/>
              <a:t> dos </a:t>
            </a:r>
            <a:r>
              <a:rPr sz="2000" dirty="0" err="1"/>
              <a:t>usuários</a:t>
            </a:r>
            <a:r>
              <a:rPr sz="2000" dirty="0"/>
              <a:t>.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 err="1"/>
              <a:t>Requisitos</a:t>
            </a:r>
            <a:r>
              <a:rPr sz="2000" dirty="0"/>
              <a:t> </a:t>
            </a:r>
            <a:r>
              <a:rPr sz="2000" dirty="0" err="1"/>
              <a:t>funcionais</a:t>
            </a:r>
            <a:r>
              <a:rPr sz="2000" dirty="0"/>
              <a:t>.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 err="1"/>
              <a:t>Requisitos</a:t>
            </a:r>
            <a:r>
              <a:rPr sz="2000" dirty="0"/>
              <a:t> </a:t>
            </a:r>
            <a:r>
              <a:rPr sz="2000" dirty="0" err="1"/>
              <a:t>não</a:t>
            </a:r>
            <a:r>
              <a:rPr sz="2000" dirty="0"/>
              <a:t> </a:t>
            </a:r>
            <a:r>
              <a:rPr sz="2000" dirty="0" err="1"/>
              <a:t>funcionais</a:t>
            </a:r>
            <a:r>
              <a:rPr sz="2000" dirty="0"/>
              <a:t>.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 err="1"/>
              <a:t>Funcionalidades</a:t>
            </a:r>
            <a:r>
              <a:rPr sz="2000" dirty="0"/>
              <a:t> </a:t>
            </a:r>
            <a:r>
              <a:rPr sz="2000" dirty="0" err="1"/>
              <a:t>propostas</a:t>
            </a:r>
            <a:r>
              <a:rPr sz="2000" dirty="0"/>
              <a:t>.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endParaRPr sz="2000" b="1" dirty="0">
              <a:ea typeface="Calibri"/>
              <a:cs typeface="Calibri"/>
            </a:endParaRPr>
          </a:p>
          <a:p>
            <a:pPr lvl="1"/>
            <a:r>
              <a:rPr sz="2000" dirty="0" err="1"/>
              <a:t>Protótipo</a:t>
            </a:r>
            <a:r>
              <a:rPr sz="2000" dirty="0"/>
              <a:t> (Figma).</a:t>
            </a:r>
            <a:endParaRPr sz="2000">
              <a:ea typeface="Calibri"/>
              <a:cs typeface="Calibri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12BF9B-E647-0AB4-5DF9-21BBDD214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2808" y="8095891"/>
            <a:ext cx="4579217" cy="21724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endParaRPr lang="pt-BR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2101" y="1920240"/>
            <a:ext cx="2488758" cy="61555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3400" b="1" dirty="0">
                <a:solidFill>
                  <a:schemeClr val="bg1"/>
                </a:solidFill>
              </a:rPr>
              <a:t>Obrigado(a)!</a:t>
            </a:r>
            <a:endParaRPr lang="pt-BR" sz="34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03117" y="3108960"/>
            <a:ext cx="7246727" cy="63094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pt-BR" sz="3500" b="1" dirty="0"/>
              <a:t>VALORA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lang="pt-BR" sz="1600" dirty="0">
                <a:solidFill>
                  <a:schemeClr val="bg1"/>
                </a:solidFill>
              </a:rPr>
              <a:t>- </a:t>
            </a:r>
            <a:r>
              <a:rPr lang="pt-BR" sz="2500" dirty="0">
                <a:solidFill>
                  <a:schemeClr val="bg1"/>
                </a:solidFill>
              </a:rPr>
              <a:t>Aplicativo de Controle de Gastos Pessoais</a:t>
            </a:r>
            <a:endParaRPr lang="pt-BR" sz="25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SlidePadrãoAluno" id="{DEABD460-2CAF-BE41-9026-6AB063403C84}" vid="{AC62CC72-D5F1-2E49-9986-DE58333FB96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30</TotalTime>
  <Words>102</Words>
  <Application>Microsoft Office PowerPoint</Application>
  <PresentationFormat>Widescreen</PresentationFormat>
  <Paragraphs>10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Aplicativo de Controle de Gastos Pessoais</vt:lpstr>
      <vt:lpstr>O problema identificado</vt:lpstr>
      <vt:lpstr>Público-alvo</vt:lpstr>
      <vt:lpstr>Necessidades identificadas</vt:lpstr>
      <vt:lpstr>Da necessidade ao requisito</vt:lpstr>
      <vt:lpstr>Requisitos e Funcionalidades</vt:lpstr>
      <vt:lpstr>Funcionalidades propostas</vt:lpstr>
      <vt:lpstr>Como o usuário interage?</vt:lpstr>
      <vt:lpstr>Da documentação para a interface</vt:lpstr>
      <vt:lpstr>Status do Projeto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familia reis</cp:lastModifiedBy>
  <cp:revision>192</cp:revision>
  <dcterms:created xsi:type="dcterms:W3CDTF">2024-01-29T14:27:05Z</dcterms:created>
  <dcterms:modified xsi:type="dcterms:W3CDTF">2026-09-24T02:44:45Z</dcterms:modified>
</cp:coreProperties>
</file>